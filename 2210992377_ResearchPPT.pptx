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1"/>
  </p:notesMasterIdLst>
  <p:handoutMasterIdLst>
    <p:handoutMasterId r:id="rId22"/>
  </p:handoutMasterIdLst>
  <p:sldIdLst>
    <p:sldId id="256" r:id="rId5"/>
    <p:sldId id="257" r:id="rId6"/>
    <p:sldId id="269" r:id="rId7"/>
    <p:sldId id="270" r:id="rId8"/>
    <p:sldId id="272" r:id="rId9"/>
    <p:sldId id="273" r:id="rId10"/>
    <p:sldId id="274" r:id="rId11"/>
    <p:sldId id="275" r:id="rId12"/>
    <p:sldId id="276" r:id="rId13"/>
    <p:sldId id="277" r:id="rId14"/>
    <p:sldId id="278" r:id="rId15"/>
    <p:sldId id="279" r:id="rId16"/>
    <p:sldId id="280" r:id="rId17"/>
    <p:sldId id="281" r:id="rId18"/>
    <p:sldId id="282" r:id="rId19"/>
    <p:sldId id="268" r:id="rId20"/>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1210" y="5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5/17/2026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5/17/2026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2000" dirty="0">
                <a:latin typeface="Times New Roman" panose="02020603050405020304" pitchFamily="18" charset="0"/>
                <a:cs typeface="Times New Roman" panose="02020603050405020304" pitchFamily="18" charset="0"/>
              </a:rPr>
              <a:t>Hybrid CNN-LSTM Framework for Spatial-Temporal Air Pollution Forecasting in Smart Cities</a:t>
            </a:r>
            <a:endParaRPr lang="en-US" sz="20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Ka</a:t>
            </a:r>
            <a:r>
              <a:rPr lang="en-US" sz="2000" spc="-1" dirty="0">
                <a:solidFill>
                  <a:srgbClr val="000000"/>
                </a:solidFill>
                <a:latin typeface="Times New Roman" panose="02020603050405020304" pitchFamily="18" charset="0"/>
                <a:ea typeface="MS PGothic"/>
                <a:cs typeface="Times New Roman" panose="02020603050405020304" pitchFamily="18" charset="0"/>
              </a:rPr>
              <a:t>ran Arora(2210991749),Sidhant Singh Bhadauriya(2210992377)</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Harsh Kumar Sahu(2210991620), Bhargav Singla(2210990214)</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Isha Kansal</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737756"/>
            <a:ext cx="8838720" cy="5210558"/>
          </a:xfrm>
          <a:prstGeom prst="rect">
            <a:avLst/>
          </a:prstGeom>
          <a:noFill/>
          <a:ln w="9360">
            <a:noFill/>
          </a:ln>
        </p:spPr>
        <p:txBody>
          <a:bodyPr>
            <a:noAutofit/>
          </a:bodyPr>
          <a:lstStyle/>
          <a:p>
            <a:pPr>
              <a:lnSpc>
                <a:spcPct val="15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50000"/>
              </a:lnSpc>
              <a:defRPr sz="1800"/>
            </a:pPr>
            <a:r>
              <a:rPr lang="en-US" dirty="0">
                <a:latin typeface="Times New Roman" panose="02020603050405020304" pitchFamily="18" charset="0"/>
                <a:cs typeface="Times New Roman" panose="02020603050405020304" pitchFamily="18" charset="0"/>
              </a:rPr>
              <a:t>Air pollution is a major environmental and public health challenge, causing millions of premature deaths annually worldwide Rapid urbanization, industries, and transportation continuously increase concentrations of PM2.5, PM10, NO2, SO2, CO, and O3 Traditional statistical models such as ARIMA and SVR struggle with non-linear, multivariate, and dynamic pollution data AI-based neural networks improve monitoring and forecasting accuracy by learning complex hidden patterns from large datasets Deep learning models like </a:t>
            </a:r>
            <a:r>
              <a:rPr lang="en-US" b="1" dirty="0">
                <a:latin typeface="Times New Roman" panose="02020603050405020304" pitchFamily="18" charset="0"/>
                <a:cs typeface="Times New Roman" panose="02020603050405020304" pitchFamily="18" charset="0"/>
              </a:rPr>
              <a:t>CNN</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LSTM</a:t>
            </a:r>
            <a:r>
              <a:rPr lang="en-US" dirty="0">
                <a:latin typeface="Times New Roman" panose="02020603050405020304" pitchFamily="18" charset="0"/>
                <a:cs typeface="Times New Roman" panose="02020603050405020304" pitchFamily="18" charset="0"/>
              </a:rPr>
              <a:t> have shown promising results in environmental time-series prediction tasks</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F87F0-A94F-4099-3935-AA90E3388C37}"/>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Problem Statement</a:t>
            </a:r>
          </a:p>
        </p:txBody>
      </p:sp>
      <p:sp>
        <p:nvSpPr>
          <p:cNvPr id="3" name="Subtitle 2">
            <a:extLst>
              <a:ext uri="{FF2B5EF4-FFF2-40B4-BE49-F238E27FC236}">
                <a16:creationId xmlns:a16="http://schemas.microsoft.com/office/drawing/2014/main" id="{317EF05A-F2D3-9214-C901-D7576761B607}"/>
              </a:ext>
            </a:extLst>
          </p:cNvPr>
          <p:cNvSpPr>
            <a:spLocks noGrp="1"/>
          </p:cNvSpPr>
          <p:nvPr>
            <p:ph type="subTitle"/>
          </p:nvPr>
        </p:nvSpPr>
        <p:spPr>
          <a:xfrm>
            <a:off x="167148" y="592282"/>
            <a:ext cx="8489795" cy="4409414"/>
          </a:xfrm>
        </p:spPr>
        <p:txBody>
          <a:bodyPr/>
          <a:lstStyle/>
          <a:p>
            <a:pPr algn="just">
              <a:lnSpc>
                <a:spcPct val="150000"/>
              </a:lnSpc>
              <a:defRPr sz="1800"/>
            </a:pPr>
            <a:r>
              <a:rPr lang="en-US" sz="1800" dirty="0">
                <a:latin typeface="Times New Roman" panose="02020603050405020304" pitchFamily="18" charset="0"/>
                <a:cs typeface="Times New Roman" panose="02020603050405020304" pitchFamily="18" charset="0"/>
              </a:rPr>
              <a:t>Need accurate prediction of PM2.5, PM10, NO2, SO2, CO, and O3 across multiple cities and time horizons. Conventional models like ARIMA assume linearity and fail beyond short-term forecasting windows. SVR lacks the ability to model sequential temporal dependencies in pollution time-series data. Spatial and temporal dependencies must be learned together for reliable multi-step forecasting. Smart cities require proactive, real-time pollution forecasting systems — not just reactive monitoring. Existing approaches do not consistently incorporate meteorological covariates such as wind speed, temperature, and humidity</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1045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75A23-0F64-14CB-009D-618EA6A04158}"/>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Objectives</a:t>
            </a:r>
          </a:p>
        </p:txBody>
      </p:sp>
      <p:sp>
        <p:nvSpPr>
          <p:cNvPr id="3" name="Subtitle 2">
            <a:extLst>
              <a:ext uri="{FF2B5EF4-FFF2-40B4-BE49-F238E27FC236}">
                <a16:creationId xmlns:a16="http://schemas.microsoft.com/office/drawing/2014/main" id="{618AE2C5-36C8-4B7C-7888-045C6B1DA624}"/>
              </a:ext>
            </a:extLst>
          </p:cNvPr>
          <p:cNvSpPr>
            <a:spLocks noGrp="1"/>
          </p:cNvSpPr>
          <p:nvPr>
            <p:ph type="subTitle"/>
          </p:nvPr>
        </p:nvSpPr>
        <p:spPr>
          <a:xfrm>
            <a:off x="157315" y="0"/>
            <a:ext cx="8829369" cy="6046839"/>
          </a:xfrm>
        </p:spPr>
        <p:txBody>
          <a:bodyPr/>
          <a:lstStyle/>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Enhance pollution monitoring accuracy using hybrid deep neural networks combining CNN and LSTM</a:t>
            </a:r>
          </a:p>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 Forecast pollution peaks and high-risk periods at 1-hour, 6-hour, and 24-hour horizons</a:t>
            </a:r>
          </a:p>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 Support decision-makers, traffic planners, and industrial operators with reliable early warning systems</a:t>
            </a:r>
          </a:p>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 Enable sustainable environmental governance through AI-driven smart city frameworks</a:t>
            </a:r>
          </a:p>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 Compare the proposed model against ARIMA, SVR, standalone CNN, and standalone LSTM baselines</a:t>
            </a:r>
          </a:p>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 Analyse feature importance to identify key meteorological and pollutant drivers of PM2.5 levels</a:t>
            </a:r>
          </a:p>
        </p:txBody>
      </p:sp>
    </p:spTree>
    <p:extLst>
      <p:ext uri="{BB962C8B-B14F-4D97-AF65-F5344CB8AC3E}">
        <p14:creationId xmlns:p14="http://schemas.microsoft.com/office/powerpoint/2010/main" val="2251854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5C86E-7DB4-85E7-7F96-793EAE43AD35}"/>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Research Gap</a:t>
            </a:r>
          </a:p>
        </p:txBody>
      </p:sp>
      <p:sp>
        <p:nvSpPr>
          <p:cNvPr id="3" name="Subtitle 2">
            <a:extLst>
              <a:ext uri="{FF2B5EF4-FFF2-40B4-BE49-F238E27FC236}">
                <a16:creationId xmlns:a16="http://schemas.microsoft.com/office/drawing/2014/main" id="{3B28AA92-2B32-C91A-B97A-B6A956A8046D}"/>
              </a:ext>
            </a:extLst>
          </p:cNvPr>
          <p:cNvSpPr>
            <a:spLocks noGrp="1"/>
          </p:cNvSpPr>
          <p:nvPr>
            <p:ph type="subTitle"/>
          </p:nvPr>
        </p:nvSpPr>
        <p:spPr>
          <a:xfrm>
            <a:off x="172064" y="795145"/>
            <a:ext cx="8799871" cy="4442319"/>
          </a:xfrm>
        </p:spPr>
        <p:txBody>
          <a:bodyPr/>
          <a:lstStyle/>
          <a:p>
            <a:pPr marL="457200" indent="-457200" algn="just">
              <a:lnSpc>
                <a:spcPct val="15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Most existing studies use only CNN or only LSTM models — neither captures both spatial and temporal dependencies simultaneously</a:t>
            </a:r>
          </a:p>
          <a:p>
            <a:pPr marL="457200" indent="-457200" algn="just">
              <a:lnSpc>
                <a:spcPct val="15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 Single-city datasets reduce model generalization across India's diverse climatic and urban conditions</a:t>
            </a:r>
          </a:p>
          <a:p>
            <a:pPr marL="457200" indent="-457200" algn="just">
              <a:lnSpc>
                <a:spcPct val="15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 Meteorological variables such as wind speed, temperature, and humidity are often ignored despite their strong influence on pollutant levels</a:t>
            </a:r>
          </a:p>
          <a:p>
            <a:pPr marL="457200" indent="-457200" algn="just">
              <a:lnSpc>
                <a:spcPct val="15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 No unified benchmark exists comparing hybrid CNN-LSTM against all major baselines on Indian multi-city air quality data </a:t>
            </a:r>
          </a:p>
          <a:p>
            <a:pPr marL="457200" indent="-457200" algn="just">
              <a:lnSpc>
                <a:spcPct val="15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Need a hybrid model combining spatial feature extraction (CNN) and temporal sequence learning (LSTM) in one end-to-end pipeline</a:t>
            </a:r>
          </a:p>
        </p:txBody>
      </p:sp>
    </p:spTree>
    <p:extLst>
      <p:ext uri="{BB962C8B-B14F-4D97-AF65-F5344CB8AC3E}">
        <p14:creationId xmlns:p14="http://schemas.microsoft.com/office/powerpoint/2010/main" val="2865292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80874-2CB6-3730-0878-4E2DAB8DB6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13BEB8-8D2B-4F1E-59B7-AC0A7A9DF0D3}"/>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Proposed Methodology</a:t>
            </a:r>
          </a:p>
        </p:txBody>
      </p:sp>
      <p:sp>
        <p:nvSpPr>
          <p:cNvPr id="3" name="Subtitle 2">
            <a:extLst>
              <a:ext uri="{FF2B5EF4-FFF2-40B4-BE49-F238E27FC236}">
                <a16:creationId xmlns:a16="http://schemas.microsoft.com/office/drawing/2014/main" id="{D54BB4FF-98F2-6235-C5DC-19FCF94A83DF}"/>
              </a:ext>
            </a:extLst>
          </p:cNvPr>
          <p:cNvSpPr>
            <a:spLocks noGrp="1"/>
          </p:cNvSpPr>
          <p:nvPr>
            <p:ph type="subTitle"/>
          </p:nvPr>
        </p:nvSpPr>
        <p:spPr>
          <a:xfrm>
            <a:off x="172064" y="1096481"/>
            <a:ext cx="8799871" cy="4442319"/>
          </a:xfrm>
        </p:spPr>
        <p:txBody>
          <a:bodyPr/>
          <a:lstStyle/>
          <a:p>
            <a:pPr marL="457200" indent="-457200" algn="just">
              <a:lnSpc>
                <a:spcPct val="15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Hybrid CNN-LSTM architecture combining the strengths of convolutional and recurrent neural networks</a:t>
            </a:r>
          </a:p>
          <a:p>
            <a:pPr marL="457200" indent="-457200" algn="just">
              <a:lnSpc>
                <a:spcPct val="15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 CNN block: two 1D convolutional layers (64 and 128 filters, kernel size 3, </a:t>
            </a:r>
            <a:r>
              <a:rPr lang="en-US" sz="1800" dirty="0" err="1">
                <a:latin typeface="Times New Roman" panose="02020603050405020304" pitchFamily="18" charset="0"/>
                <a:cs typeface="Times New Roman" panose="02020603050405020304" pitchFamily="18" charset="0"/>
              </a:rPr>
              <a:t>ReLU</a:t>
            </a:r>
            <a:r>
              <a:rPr lang="en-US" sz="1800" dirty="0">
                <a:latin typeface="Times New Roman" panose="02020603050405020304" pitchFamily="18" charset="0"/>
                <a:cs typeface="Times New Roman" panose="02020603050405020304" pitchFamily="18" charset="0"/>
              </a:rPr>
              <a:t>) extract spatial cross-variable feature patterns </a:t>
            </a:r>
          </a:p>
          <a:p>
            <a:pPr marL="457200" indent="-457200" algn="just">
              <a:lnSpc>
                <a:spcPct val="15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Batch Normalization and </a:t>
            </a:r>
            <a:r>
              <a:rPr lang="en-US" sz="1800" dirty="0" err="1">
                <a:latin typeface="Times New Roman" panose="02020603050405020304" pitchFamily="18" charset="0"/>
                <a:cs typeface="Times New Roman" panose="02020603050405020304" pitchFamily="18" charset="0"/>
              </a:rPr>
              <a:t>MaxPooling</a:t>
            </a:r>
            <a:r>
              <a:rPr lang="en-US" sz="1800" dirty="0">
                <a:latin typeface="Times New Roman" panose="02020603050405020304" pitchFamily="18" charset="0"/>
                <a:cs typeface="Times New Roman" panose="02020603050405020304" pitchFamily="18" charset="0"/>
              </a:rPr>
              <a:t> applied after CNN layers to stabilize training and reduce temporal dimension</a:t>
            </a:r>
          </a:p>
          <a:p>
            <a:pPr marL="457200" indent="-457200" algn="just">
              <a:lnSpc>
                <a:spcPct val="15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 LSTM block: two stacked LSTM layers (128 and 64 units) capture long-term temporal dependencies in the pollution sequence </a:t>
            </a:r>
          </a:p>
          <a:p>
            <a:pPr marL="457200" indent="-457200" algn="just">
              <a:lnSpc>
                <a:spcPct val="15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Dropout regularization (rate 0.2–0.3) applied throughout to prevent overfitting</a:t>
            </a:r>
          </a:p>
          <a:p>
            <a:pPr marL="457200" indent="-457200" algn="just">
              <a:lnSpc>
                <a:spcPct val="15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 Dense layers (32 → 16 neurons) perform final regression and output PM2.5 forecast values </a:t>
            </a:r>
          </a:p>
          <a:p>
            <a:pPr marL="457200" indent="-457200" algn="just">
              <a:lnSpc>
                <a:spcPct val="15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Model trained using Adam optimizer with MSE loss and early stopping (patience = 20)</a:t>
            </a:r>
          </a:p>
        </p:txBody>
      </p:sp>
    </p:spTree>
    <p:extLst>
      <p:ext uri="{BB962C8B-B14F-4D97-AF65-F5344CB8AC3E}">
        <p14:creationId xmlns:p14="http://schemas.microsoft.com/office/powerpoint/2010/main" val="2907297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F3B78-31D2-8FF4-4C45-6F42DC0962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7B1989-ABE4-E232-1FEC-B807ECC0D960}"/>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Data Preprocessing</a:t>
            </a:r>
          </a:p>
        </p:txBody>
      </p:sp>
      <p:sp>
        <p:nvSpPr>
          <p:cNvPr id="3" name="Subtitle 2">
            <a:extLst>
              <a:ext uri="{FF2B5EF4-FFF2-40B4-BE49-F238E27FC236}">
                <a16:creationId xmlns:a16="http://schemas.microsoft.com/office/drawing/2014/main" id="{720B5840-91EA-EF86-F9E8-AB173E7407E7}"/>
              </a:ext>
            </a:extLst>
          </p:cNvPr>
          <p:cNvSpPr>
            <a:spLocks noGrp="1"/>
          </p:cNvSpPr>
          <p:nvPr>
            <p:ph type="subTitle"/>
          </p:nvPr>
        </p:nvSpPr>
        <p:spPr>
          <a:xfrm>
            <a:off x="187036" y="1075700"/>
            <a:ext cx="8873837" cy="4442319"/>
          </a:xfrm>
        </p:spPr>
        <p:txBody>
          <a:bodyPr/>
          <a:lstStyle/>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Dataset: Air Pollution in India (Kaggle/CPCB) — multi-city, multi-year records with ~8.3% missing values</a:t>
            </a:r>
          </a:p>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 Missing value handling: linear interpolation for gaps up to 3 time steps; KNN imputation (k=5) for larger gaps</a:t>
            </a:r>
          </a:p>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 Outlier detection using IQR criterion — values above Q3 + 3×IQR flagged; sensor faults replaced with temporal median, genuine pollution spikes retained</a:t>
            </a:r>
          </a:p>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 Min-Max normalization applied to all 9 features using training-set parameters only  prevents data leakage into validation and test sets</a:t>
            </a:r>
          </a:p>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 Sliding window approach with lookback T=24 hours creates input tensors of shape (24 × 9) </a:t>
            </a:r>
          </a:p>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Prediction horizons set at H = 1h, 6h, and 24h; dataset split 70% train / 15% validation / 15% test (chronological order preserved)</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9185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08F4C-8D17-A254-3389-E266578214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EF2938-9A19-935D-4F50-3AE662F05C3D}"/>
              </a:ext>
            </a:extLst>
          </p:cNvPr>
          <p:cNvSpPr>
            <a:spLocks noGrp="1"/>
          </p:cNvSpPr>
          <p:nvPr>
            <p:ph type="title"/>
          </p:nvPr>
        </p:nvSpPr>
        <p:spPr/>
        <p:txBody>
          <a:bodyPr/>
          <a:lstStyle/>
          <a:p>
            <a:pPr algn="ctr"/>
            <a:r>
              <a:rPr lang="en-IN" sz="3200" dirty="0"/>
              <a:t>Model Architecture</a:t>
            </a:r>
            <a:endParaRPr lang="en-IN"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967A965-E6C3-8FD6-68FB-682E3AD735A9}"/>
              </a:ext>
            </a:extLst>
          </p:cNvPr>
          <p:cNvSpPr>
            <a:spLocks noGrp="1"/>
          </p:cNvSpPr>
          <p:nvPr>
            <p:ph type="subTitle"/>
          </p:nvPr>
        </p:nvSpPr>
        <p:spPr>
          <a:xfrm>
            <a:off x="172064" y="1174285"/>
            <a:ext cx="8799871" cy="4748979"/>
          </a:xfrm>
        </p:spPr>
        <p:txBody>
          <a:bodyPr/>
          <a:lstStyle/>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Input tensor shape: (24 × 9) — 24 hourly time steps × 9 features (PM2.5, PM10, NO2, SO2, CO, O3, Temperature, Humidity, Wind Speed) </a:t>
            </a:r>
          </a:p>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2 Conv1D layers: 64 and 128 filters, kernel size 3, </a:t>
            </a:r>
            <a:r>
              <a:rPr lang="en-IN" sz="1800" dirty="0" err="1">
                <a:latin typeface="Times New Roman" panose="02020603050405020304" pitchFamily="18" charset="0"/>
                <a:cs typeface="Times New Roman" panose="02020603050405020304" pitchFamily="18" charset="0"/>
              </a:rPr>
              <a:t>ReLU</a:t>
            </a:r>
            <a:r>
              <a:rPr lang="en-IN" sz="1800" dirty="0">
                <a:latin typeface="Times New Roman" panose="02020603050405020304" pitchFamily="18" charset="0"/>
                <a:cs typeface="Times New Roman" panose="02020603050405020304" pitchFamily="18" charset="0"/>
              </a:rPr>
              <a:t> activation — extract local spatial feature relationships across variables</a:t>
            </a:r>
          </a:p>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MaxPooling</a:t>
            </a:r>
            <a:r>
              <a:rPr lang="en-IN" sz="1800" dirty="0">
                <a:latin typeface="Times New Roman" panose="02020603050405020304" pitchFamily="18" charset="0"/>
                <a:cs typeface="Times New Roman" panose="02020603050405020304" pitchFamily="18" charset="0"/>
              </a:rPr>
              <a:t> (pool size 2) reduces temporal dimension by half; Batch Normalization stabilizes internal covariate shift</a:t>
            </a:r>
          </a:p>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 Dropout (rate 0.2) after CNN block prevents overfitting during spatial feature learning </a:t>
            </a:r>
          </a:p>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2 stacked LSTM layers: 128 and 64 units — learn sequential temporal dependencies with Dropout (rate 0.3) on recurrent connections</a:t>
            </a:r>
          </a:p>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 Dense layers: 32 and 16 neurons with </a:t>
            </a:r>
            <a:r>
              <a:rPr lang="en-IN" sz="1800" dirty="0" err="1">
                <a:latin typeface="Times New Roman" panose="02020603050405020304" pitchFamily="18" charset="0"/>
                <a:cs typeface="Times New Roman" panose="02020603050405020304" pitchFamily="18" charset="0"/>
              </a:rPr>
              <a:t>ReLU</a:t>
            </a:r>
            <a:r>
              <a:rPr lang="en-IN" sz="1800" dirty="0">
                <a:latin typeface="Times New Roman" panose="02020603050405020304" pitchFamily="18" charset="0"/>
                <a:cs typeface="Times New Roman" panose="02020603050405020304" pitchFamily="18" charset="0"/>
              </a:rPr>
              <a:t> activation + linear output neuron for PM2.5 regression </a:t>
            </a:r>
          </a:p>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Total trainable parameters optimized using Adam (</a:t>
            </a:r>
            <a:r>
              <a:rPr lang="en-IN" sz="1800" dirty="0" err="1">
                <a:latin typeface="Times New Roman" panose="02020603050405020304" pitchFamily="18" charset="0"/>
                <a:cs typeface="Times New Roman" panose="02020603050405020304" pitchFamily="18" charset="0"/>
              </a:rPr>
              <a:t>lr</a:t>
            </a:r>
            <a:r>
              <a:rPr lang="en-IN" sz="1800" dirty="0">
                <a:latin typeface="Times New Roman" panose="02020603050405020304" pitchFamily="18" charset="0"/>
                <a:cs typeface="Times New Roman" panose="02020603050405020304" pitchFamily="18" charset="0"/>
              </a:rPr>
              <a:t> = 1×10⁻³) with exponential decay schedule</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03690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A7A40-26BB-7191-2DB7-A1D2054BED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06853-6909-3F27-C746-38C8C3874729}"/>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Evaluation Metrics</a:t>
            </a:r>
          </a:p>
        </p:txBody>
      </p:sp>
      <p:sp>
        <p:nvSpPr>
          <p:cNvPr id="3" name="Subtitle 2">
            <a:extLst>
              <a:ext uri="{FF2B5EF4-FFF2-40B4-BE49-F238E27FC236}">
                <a16:creationId xmlns:a16="http://schemas.microsoft.com/office/drawing/2014/main" id="{15A805AE-43C2-12F1-C8E0-40F8A387EFE8}"/>
              </a:ext>
            </a:extLst>
          </p:cNvPr>
          <p:cNvSpPr>
            <a:spLocks noGrp="1"/>
          </p:cNvSpPr>
          <p:nvPr>
            <p:ph type="subTitle"/>
          </p:nvPr>
        </p:nvSpPr>
        <p:spPr>
          <a:xfrm>
            <a:off x="172064" y="747786"/>
            <a:ext cx="8799871" cy="4468450"/>
          </a:xfrm>
        </p:spPr>
        <p:txBody>
          <a:bodyPr/>
          <a:lstStyle/>
          <a:p>
            <a:pPr marL="457200" indent="-457200">
              <a:lnSpc>
                <a:spcPct val="150000"/>
              </a:lnSpc>
              <a:buFont typeface="Arial" panose="020B0604020202020204" pitchFamily="34" charset="0"/>
              <a:buChar char="•"/>
              <a:defRPr sz="1800"/>
            </a:pPr>
            <a:r>
              <a:rPr lang="cy-GB" sz="1800" dirty="0">
                <a:latin typeface="Times New Roman" panose="02020603050405020304" pitchFamily="18" charset="0"/>
                <a:cs typeface="Times New Roman" panose="02020603050405020304" pitchFamily="18" charset="0"/>
              </a:rPr>
              <a:t>Loss Function during training: Mean Squared Error (MSE) = (1/n) </a:t>
            </a:r>
            <a:r>
              <a:rPr lang="el-GR" sz="1800" dirty="0">
                <a:latin typeface="Times New Roman" panose="02020603050405020304" pitchFamily="18" charset="0"/>
                <a:cs typeface="Times New Roman" panose="02020603050405020304" pitchFamily="18" charset="0"/>
              </a:rPr>
              <a:t>Σ(</a:t>
            </a:r>
            <a:r>
              <a:rPr lang="cy-GB" sz="1800" dirty="0">
                <a:latin typeface="Times New Roman" panose="02020603050405020304" pitchFamily="18" charset="0"/>
                <a:cs typeface="Times New Roman" panose="02020603050405020304" pitchFamily="18" charset="0"/>
              </a:rPr>
              <a:t>yᵢ − ŷᵢ)²</a:t>
            </a:r>
          </a:p>
          <a:p>
            <a:pPr marL="457200" indent="-457200">
              <a:lnSpc>
                <a:spcPct val="150000"/>
              </a:lnSpc>
              <a:buFont typeface="Arial" panose="020B0604020202020204" pitchFamily="34" charset="0"/>
              <a:buChar char="•"/>
              <a:defRPr sz="1800"/>
            </a:pPr>
            <a:r>
              <a:rPr lang="cy-GB" sz="1800" dirty="0">
                <a:latin typeface="Times New Roman" panose="02020603050405020304" pitchFamily="18" charset="0"/>
                <a:cs typeface="Times New Roman" panose="02020603050405020304" pitchFamily="18" charset="0"/>
              </a:rPr>
              <a:t> RMSE (Root Mean Squared Error): sensitive to large errors — penalizes severe prediction deviations heavily; ideal for pollution spike detection</a:t>
            </a:r>
          </a:p>
          <a:p>
            <a:pPr marL="457200" indent="-457200">
              <a:lnSpc>
                <a:spcPct val="150000"/>
              </a:lnSpc>
              <a:buFont typeface="Arial" panose="020B0604020202020204" pitchFamily="34" charset="0"/>
              <a:buChar char="•"/>
              <a:defRPr sz="1800"/>
            </a:pPr>
            <a:r>
              <a:rPr lang="cy-GB" sz="1800" dirty="0">
                <a:latin typeface="Times New Roman" panose="02020603050405020304" pitchFamily="18" charset="0"/>
                <a:cs typeface="Times New Roman" panose="02020603050405020304" pitchFamily="18" charset="0"/>
              </a:rPr>
              <a:t> MAE (Mean Absolute Error): robust linear penalty — represents average prediction error in µg/m³ without squaring </a:t>
            </a:r>
          </a:p>
          <a:p>
            <a:pPr marL="457200" indent="-457200">
              <a:lnSpc>
                <a:spcPct val="150000"/>
              </a:lnSpc>
              <a:buFont typeface="Arial" panose="020B0604020202020204" pitchFamily="34" charset="0"/>
              <a:buChar char="•"/>
              <a:defRPr sz="1800"/>
            </a:pPr>
            <a:r>
              <a:rPr lang="cy-GB" sz="1800" dirty="0">
                <a:latin typeface="Times New Roman" panose="02020603050405020304" pitchFamily="18" charset="0"/>
                <a:cs typeface="Times New Roman" panose="02020603050405020304" pitchFamily="18" charset="0"/>
              </a:rPr>
              <a:t>R² Score (Coefficient of Determination): measures proportion of PM2.5 variance explained by the model; R²=1 means perfect prediction</a:t>
            </a:r>
          </a:p>
          <a:p>
            <a:pPr marL="457200" indent="-457200">
              <a:lnSpc>
                <a:spcPct val="150000"/>
              </a:lnSpc>
              <a:buFont typeface="Arial" panose="020B0604020202020204" pitchFamily="34" charset="0"/>
              <a:buChar char="•"/>
              <a:defRPr sz="1800"/>
            </a:pPr>
            <a:r>
              <a:rPr lang="cy-GB" sz="1800" dirty="0">
                <a:latin typeface="Times New Roman" panose="02020603050405020304" pitchFamily="18" charset="0"/>
                <a:cs typeface="Times New Roman" panose="02020603050405020304" pitchFamily="18" charset="0"/>
              </a:rPr>
              <a:t> All metrics averaged over 5 independent runs with different random seeds to ensure statistical reliability </a:t>
            </a:r>
          </a:p>
          <a:p>
            <a:pPr marL="457200" indent="-457200">
              <a:lnSpc>
                <a:spcPct val="150000"/>
              </a:lnSpc>
              <a:buFont typeface="Arial" panose="020B0604020202020204" pitchFamily="34" charset="0"/>
              <a:buChar char="•"/>
              <a:defRPr sz="1800"/>
            </a:pPr>
            <a:r>
              <a:rPr lang="cy-GB" sz="1800" dirty="0">
                <a:latin typeface="Times New Roman" panose="02020603050405020304" pitchFamily="18" charset="0"/>
                <a:cs typeface="Times New Roman" panose="02020603050405020304" pitchFamily="18" charset="0"/>
              </a:rPr>
              <a:t>Lower RMSE and MAE, and higher R², indicate better forecasting performance</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3807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0B2F9-E241-94E5-8DE7-929238D9BC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A54E9A-BBDF-1A64-807F-F41A7953F1A1}"/>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Experimental Setup</a:t>
            </a:r>
          </a:p>
        </p:txBody>
      </p:sp>
      <p:sp>
        <p:nvSpPr>
          <p:cNvPr id="3" name="Subtitle 2">
            <a:extLst>
              <a:ext uri="{FF2B5EF4-FFF2-40B4-BE49-F238E27FC236}">
                <a16:creationId xmlns:a16="http://schemas.microsoft.com/office/drawing/2014/main" id="{DFCF404D-E323-B65E-30D2-2E8EBBE453C3}"/>
              </a:ext>
            </a:extLst>
          </p:cNvPr>
          <p:cNvSpPr>
            <a:spLocks noGrp="1"/>
          </p:cNvSpPr>
          <p:nvPr>
            <p:ph type="subTitle"/>
          </p:nvPr>
        </p:nvSpPr>
        <p:spPr>
          <a:xfrm>
            <a:off x="226141" y="914040"/>
            <a:ext cx="8799871" cy="4572360"/>
          </a:xfrm>
        </p:spPr>
        <p:txBody>
          <a:bodyPr/>
          <a:lstStyle/>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Dataset: Air Pollution in India (Kaggle) — sourced from CPCB National Air Quality Monitoring Programme (NAMP) </a:t>
            </a:r>
          </a:p>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9 input features: PM2.5, PM10, NO2, SO2, CO, O3 (pollutants) + Temperature, Relative Humidity, Wind Speed (meteorological) </a:t>
            </a:r>
          </a:p>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Target variable: PM2.5 (µg/m³); forecasting horizons: 1h, 6h, and 24h ahead </a:t>
            </a:r>
          </a:p>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Tools: Python 3.9, TensorFlow 2.10, </a:t>
            </a:r>
            <a:r>
              <a:rPr lang="en-IN" sz="1800" dirty="0" err="1">
                <a:latin typeface="Times New Roman" panose="02020603050405020304" pitchFamily="18" charset="0"/>
                <a:cs typeface="Times New Roman" panose="02020603050405020304" pitchFamily="18" charset="0"/>
              </a:rPr>
              <a:t>Keras</a:t>
            </a:r>
            <a:r>
              <a:rPr lang="en-IN" sz="1800" dirty="0">
                <a:latin typeface="Times New Roman" panose="02020603050405020304" pitchFamily="18" charset="0"/>
                <a:cs typeface="Times New Roman" panose="02020603050405020304" pitchFamily="18" charset="0"/>
              </a:rPr>
              <a:t>, NumPy 1.23, Pandas 1.5, Scikit-learn 1.1, Matplotlib </a:t>
            </a:r>
          </a:p>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Hardware: NVIDIA Tesla T4 GPU (16GB VRAM), Intel Xeon 2.2 GHz CPU, 32GB RAM, Ubuntu 20.04 LTS </a:t>
            </a:r>
          </a:p>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Baselines compared: ARIMA, SVR (RBF kernel), standalone CNN, standalone LSTM — all trained on the same data splits</a:t>
            </a:r>
          </a:p>
        </p:txBody>
      </p:sp>
    </p:spTree>
    <p:extLst>
      <p:ext uri="{BB962C8B-B14F-4D97-AF65-F5344CB8AC3E}">
        <p14:creationId xmlns:p14="http://schemas.microsoft.com/office/powerpoint/2010/main" val="33483252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5896B-392B-A4CB-7FC4-6A2B962236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933604-6E60-2F85-052A-408DEAD01A0C}"/>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Results</a:t>
            </a:r>
          </a:p>
        </p:txBody>
      </p:sp>
      <p:sp>
        <p:nvSpPr>
          <p:cNvPr id="3" name="Subtitle 2">
            <a:extLst>
              <a:ext uri="{FF2B5EF4-FFF2-40B4-BE49-F238E27FC236}">
                <a16:creationId xmlns:a16="http://schemas.microsoft.com/office/drawing/2014/main" id="{E7CD2E62-54AB-EF95-9AF4-FE64845AE5C6}"/>
              </a:ext>
            </a:extLst>
          </p:cNvPr>
          <p:cNvSpPr>
            <a:spLocks noGrp="1"/>
          </p:cNvSpPr>
          <p:nvPr>
            <p:ph type="subTitle"/>
          </p:nvPr>
        </p:nvSpPr>
        <p:spPr>
          <a:xfrm>
            <a:off x="172064" y="695831"/>
            <a:ext cx="8799871" cy="4645096"/>
          </a:xfrm>
        </p:spPr>
        <p:txBody>
          <a:bodyPr/>
          <a:lstStyle/>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CNN-LSTM outperformed all baselines — ARIMA, SVR, CNN-only, and LSTM-only — across all forecasting horizons</a:t>
            </a:r>
          </a:p>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 1-hour PM2.5 forecasting: RMSE = 12.47, MAE = 9.83, R² = 0.941 </a:t>
            </a:r>
          </a:p>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6-hour horizon: RMSE = 18.93 (vs LSTM-only: 23.87, ARIMA: 39.54) </a:t>
            </a:r>
          </a:p>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24-hour horizon: RMSE = 29.45, R² = 0.912 — demonstrating stable long-range forecasting capability </a:t>
            </a:r>
          </a:p>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CNN-LSTM achieved 60.8% RMSE reduction vs ARIMA and 26% reduction vs standalone LSTM at 1-hour horizon</a:t>
            </a:r>
          </a:p>
          <a:p>
            <a:pPr marL="457200" indent="-457200" algn="just">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 Strong performance across all horizons confirms the model generalizes well beyond short-term prediction</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55455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FBB3D-5A8D-D2DB-4E16-A0BD31AF61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929DA-795F-52D4-C06D-5592462AB19C}"/>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Key Findings</a:t>
            </a:r>
          </a:p>
        </p:txBody>
      </p:sp>
      <p:sp>
        <p:nvSpPr>
          <p:cNvPr id="3" name="Subtitle 2">
            <a:extLst>
              <a:ext uri="{FF2B5EF4-FFF2-40B4-BE49-F238E27FC236}">
                <a16:creationId xmlns:a16="http://schemas.microsoft.com/office/drawing/2014/main" id="{73F82C4B-50B6-5E16-58DA-93D5AF0A108D}"/>
              </a:ext>
            </a:extLst>
          </p:cNvPr>
          <p:cNvSpPr>
            <a:spLocks noGrp="1"/>
          </p:cNvSpPr>
          <p:nvPr>
            <p:ph type="subTitle"/>
          </p:nvPr>
        </p:nvSpPr>
        <p:spPr>
          <a:xfrm>
            <a:off x="91059" y="706222"/>
            <a:ext cx="8799871" cy="4780177"/>
          </a:xfrm>
        </p:spPr>
        <p:txBody>
          <a:bodyPr/>
          <a:lstStyle/>
          <a:p>
            <a:pPr marL="457200" indent="-457200" algn="just">
              <a:lnSpc>
                <a:spcPct val="15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CNN preprocessing improves LSTM feature input — yielding 26% RMSE reduction compared to standalone LSTM </a:t>
            </a:r>
          </a:p>
          <a:p>
            <a:pPr marL="457200" indent="-457200" algn="just">
              <a:lnSpc>
                <a:spcPct val="15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Batch Normalization contributed a 4.2% RMSE improvement by stabilizing training across layers </a:t>
            </a:r>
          </a:p>
          <a:p>
            <a:pPr marL="457200" indent="-457200" algn="just">
              <a:lnSpc>
                <a:spcPct val="15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Dropout regularization improved generalization by 3.1% — reducing gap between training and validation loss</a:t>
            </a:r>
          </a:p>
          <a:p>
            <a:pPr marL="457200" indent="-457200" algn="just">
              <a:lnSpc>
                <a:spcPct val="15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 PM10 and wind speed were the strongest predictors of PM2.5 — confirmed via permutation-based feature importance analysis </a:t>
            </a:r>
          </a:p>
          <a:p>
            <a:pPr marL="457200" indent="-457200" algn="just">
              <a:lnSpc>
                <a:spcPct val="15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Temperature and humidity were important during seasonal extremes (summer ozone, winter PM2.5 hygroscopic growth) </a:t>
            </a:r>
          </a:p>
        </p:txBody>
      </p:sp>
    </p:spTree>
    <p:extLst>
      <p:ext uri="{BB962C8B-B14F-4D97-AF65-F5344CB8AC3E}">
        <p14:creationId xmlns:p14="http://schemas.microsoft.com/office/powerpoint/2010/main" val="1381237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56B73-E0D0-9123-29BE-5EF82952A1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7573B7-F2AD-FDFA-EA6E-D16B8E3B4032}"/>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Applications</a:t>
            </a:r>
          </a:p>
        </p:txBody>
      </p:sp>
      <p:sp>
        <p:nvSpPr>
          <p:cNvPr id="3" name="Subtitle 2">
            <a:extLst>
              <a:ext uri="{FF2B5EF4-FFF2-40B4-BE49-F238E27FC236}">
                <a16:creationId xmlns:a16="http://schemas.microsoft.com/office/drawing/2014/main" id="{5FDB5A94-3A8A-5EE9-3E83-467EB13044C3}"/>
              </a:ext>
            </a:extLst>
          </p:cNvPr>
          <p:cNvSpPr>
            <a:spLocks noGrp="1"/>
          </p:cNvSpPr>
          <p:nvPr>
            <p:ph type="subTitle"/>
          </p:nvPr>
        </p:nvSpPr>
        <p:spPr>
          <a:xfrm>
            <a:off x="172064" y="1662187"/>
            <a:ext cx="8799871" cy="2989366"/>
          </a:xfrm>
        </p:spPr>
        <p:txBody>
          <a:bodyPr/>
          <a:lstStyle/>
          <a:p>
            <a:endParaRPr lang="en-US" sz="18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Real-time pollution early warning systems — sub-10ms inference enables live city-level air quality alerts for citizens</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Traffic and industrial operation planning — 1-hour forecasts guide traffic routing; 6-hour forecasts support industrial scheduling during high-risk periods</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Public health risk reduction — 24-hour forecasts enable health advisories, hospital preparedness, and vulnerable population alerts</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Smart city environmental governance — integrates with IoT sensor networks and policy dashboards for data-driven regulation</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School and outdoor event management — advance warnings allow timely cancellations or precautionary measures</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Government policy support — long-term trend analysis from model outputs assists emission control regulation</a:t>
            </a:r>
          </a:p>
        </p:txBody>
      </p:sp>
    </p:spTree>
    <p:extLst>
      <p:ext uri="{BB962C8B-B14F-4D97-AF65-F5344CB8AC3E}">
        <p14:creationId xmlns:p14="http://schemas.microsoft.com/office/powerpoint/2010/main" val="2309006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59B0F-A132-3081-CFFB-DB8FCFB49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F2C658-F06B-DB38-B95B-E46499E38FC0}"/>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Future Work</a:t>
            </a:r>
          </a:p>
        </p:txBody>
      </p:sp>
      <p:sp>
        <p:nvSpPr>
          <p:cNvPr id="3" name="Subtitle 2">
            <a:extLst>
              <a:ext uri="{FF2B5EF4-FFF2-40B4-BE49-F238E27FC236}">
                <a16:creationId xmlns:a16="http://schemas.microsoft.com/office/drawing/2014/main" id="{B5FC106D-C160-8E17-E882-FD8DA58D2D90}"/>
              </a:ext>
            </a:extLst>
          </p:cNvPr>
          <p:cNvSpPr>
            <a:spLocks noGrp="1"/>
          </p:cNvSpPr>
          <p:nvPr>
            <p:ph type="subTitle"/>
          </p:nvPr>
        </p:nvSpPr>
        <p:spPr>
          <a:xfrm>
            <a:off x="172064" y="1641404"/>
            <a:ext cx="8799871" cy="3323663"/>
          </a:xfrm>
        </p:spPr>
        <p:txBody>
          <a:bodyPr/>
          <a:lstStyle/>
          <a:p>
            <a:pPr marL="457200" indent="-457200">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Attention-based Transformer integration — multi-head self-attention for selective time-step weighting, improving forecasts beyond 24 hours </a:t>
            </a:r>
          </a:p>
          <a:p>
            <a:pPr marL="457200" indent="-457200">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Graph Neural Networks (GNNs) for spatial learning — encode relationships between geographically distributed monitoring stations </a:t>
            </a:r>
          </a:p>
          <a:p>
            <a:pPr marL="457200" indent="-457200">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Satellite remote sensing integration — incorporate Sentinel-5P TROPOMI and MODIS AOD data to supplement ground sensor measurements</a:t>
            </a:r>
          </a:p>
          <a:p>
            <a:pPr marL="457200" indent="-457200">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 Multi-pollutant joint forecasting — extend output layer to simultaneously predict all six pollutants for a full Air Quality Index</a:t>
            </a:r>
          </a:p>
          <a:p>
            <a:pPr marL="457200" indent="-457200">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 Edge IoT deployment — optimize model for NVIDIA Jetson Nano and Raspberry Pi for real-time decentralized monitoring </a:t>
            </a:r>
          </a:p>
          <a:p>
            <a:pPr marL="457200" indent="-457200">
              <a:lnSpc>
                <a:spcPct val="150000"/>
              </a:lnSpc>
              <a:buFont typeface="Arial" panose="020B0604020202020204" pitchFamily="34" charset="0"/>
              <a:buChar char="•"/>
              <a:defRPr sz="1800"/>
            </a:pPr>
            <a:r>
              <a:rPr lang="en-IN" sz="1800" dirty="0">
                <a:latin typeface="Times New Roman" panose="02020603050405020304" pitchFamily="18" charset="0"/>
                <a:cs typeface="Times New Roman" panose="02020603050405020304" pitchFamily="18" charset="0"/>
              </a:rPr>
              <a:t>Uncertainty quantification — apply Bayesian deep learning or Monte Carlo Dropout to generate probabilistic forecasts with confidence intervals</a:t>
            </a:r>
          </a:p>
        </p:txBody>
      </p:sp>
    </p:spTree>
    <p:extLst>
      <p:ext uri="{BB962C8B-B14F-4D97-AF65-F5344CB8AC3E}">
        <p14:creationId xmlns:p14="http://schemas.microsoft.com/office/powerpoint/2010/main" val="34410970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1EB3A-D8E0-1139-6837-40A28D94DF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C638F0-9F5B-A501-1C66-C28AAE7046B6}"/>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Conclusion</a:t>
            </a:r>
          </a:p>
        </p:txBody>
      </p:sp>
      <p:sp>
        <p:nvSpPr>
          <p:cNvPr id="3" name="Subtitle 2">
            <a:extLst>
              <a:ext uri="{FF2B5EF4-FFF2-40B4-BE49-F238E27FC236}">
                <a16:creationId xmlns:a16="http://schemas.microsoft.com/office/drawing/2014/main" id="{01F6FCFB-E740-339A-5EC8-BE3EBDE51B1D}"/>
              </a:ext>
            </a:extLst>
          </p:cNvPr>
          <p:cNvSpPr>
            <a:spLocks noGrp="1"/>
          </p:cNvSpPr>
          <p:nvPr>
            <p:ph type="subTitle"/>
          </p:nvPr>
        </p:nvSpPr>
        <p:spPr>
          <a:xfrm>
            <a:off x="246923" y="1942741"/>
            <a:ext cx="8799871" cy="2753392"/>
          </a:xfrm>
        </p:spPr>
        <p:txBody>
          <a:bodyPr/>
          <a:lstStyle/>
          <a:p>
            <a:pPr marL="457200" indent="-457200" algn="just">
              <a:lnSpc>
                <a:spcPct val="15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Hybrid CNN-LSTM is effective for air quality forecasting — achieves RMSE=12.47, MAE=9.83, R²=0.941 at 1-hour horizon</a:t>
            </a:r>
          </a:p>
          <a:p>
            <a:pPr marL="457200" indent="-457200" algn="just">
              <a:lnSpc>
                <a:spcPct val="15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 Successfully combines strengths of CNN (spatial feature extraction) and LSTM (temporal sequence learning) in one unified pipeline</a:t>
            </a:r>
          </a:p>
          <a:p>
            <a:pPr marL="457200" indent="-457200" algn="just">
              <a:lnSpc>
                <a:spcPct val="15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 Outperforms all four baselines — ARIMA, SVR, CNN-only, LSTM-only — across 1h, 6h, and 24h forecasting horizons </a:t>
            </a:r>
          </a:p>
          <a:p>
            <a:pPr marL="457200" indent="-457200" algn="just">
              <a:lnSpc>
                <a:spcPct val="15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Provides a scalable, real-time solution applicable to smart city environmental monitoring infrastructure </a:t>
            </a:r>
          </a:p>
          <a:p>
            <a:pPr marL="457200" indent="-457200" algn="just">
              <a:lnSpc>
                <a:spcPct val="15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Feature analysis reveals PM10 and wind speed as dominant PM2.5 predictors — providing actionable insights for policymakers</a:t>
            </a:r>
          </a:p>
          <a:p>
            <a:pPr marL="457200" indent="-457200" algn="just">
              <a:lnSpc>
                <a:spcPct val="15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 Supports sustainability, public health protection, and UN Sustainable Development Goal 11 (Sustainable Cities and Communities)</a:t>
            </a:r>
          </a:p>
        </p:txBody>
      </p:sp>
    </p:spTree>
    <p:extLst>
      <p:ext uri="{BB962C8B-B14F-4D97-AF65-F5344CB8AC3E}">
        <p14:creationId xmlns:p14="http://schemas.microsoft.com/office/powerpoint/2010/main" val="29197115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16</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2.xml><?xml version="1.0" encoding="utf-8"?>
<ds:datastoreItem xmlns:ds="http://schemas.openxmlformats.org/officeDocument/2006/customXml" ds:itemID="{4A62A602-78C1-468C-BB25-57CD481DB741}">
  <ds:schemaRefs>
    <ds:schemaRef ds:uri="http://schemas.microsoft.com/office/infopath/2007/PartnerControls"/>
    <ds:schemaRef ds:uri="http://www.w3.org/XML/1998/namespace"/>
    <ds:schemaRef ds:uri="http://schemas.microsoft.com/office/2006/documentManagement/types"/>
    <ds:schemaRef ds:uri="http://schemas.openxmlformats.org/package/2006/metadata/core-properties"/>
    <ds:schemaRef ds:uri="http://purl.org/dc/terms/"/>
    <ds:schemaRef ds:uri="http://purl.org/dc/dcmitype/"/>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35165</TotalTime>
  <Words>1635</Words>
  <Application>Microsoft Office PowerPoint</Application>
  <PresentationFormat>On-screen Show (4:3)</PresentationFormat>
  <Paragraphs>116</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PowerPoint Presentation</vt:lpstr>
      <vt:lpstr>PowerPoint Presentation</vt:lpstr>
      <vt:lpstr>Problem Statement</vt:lpstr>
      <vt:lpstr>Objectives</vt:lpstr>
      <vt:lpstr>Research Gap</vt:lpstr>
      <vt:lpstr>Proposed Methodology</vt:lpstr>
      <vt:lpstr>Data Preprocessing</vt:lpstr>
      <vt:lpstr>Model Architecture</vt:lpstr>
      <vt:lpstr>Evaluation Metrics</vt:lpstr>
      <vt:lpstr>Experimental Setup</vt:lpstr>
      <vt:lpstr>Results</vt:lpstr>
      <vt:lpstr>Key Findings</vt:lpstr>
      <vt:lpstr>Applications</vt:lpstr>
      <vt:lpstr>Future Work</vt:lpstr>
      <vt:lpstr>Conclusion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Sidhant Singh Bhadauriya</cp:lastModifiedBy>
  <cp:revision>2304</cp:revision>
  <cp:lastPrinted>2026-05-17T07:50:18Z</cp:lastPrinted>
  <dcterms:created xsi:type="dcterms:W3CDTF">2010-04-09T07:36:15Z</dcterms:created>
  <dcterms:modified xsi:type="dcterms:W3CDTF">2026-05-17T13:59:41Z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